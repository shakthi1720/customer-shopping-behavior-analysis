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7" r:id="rId3"/>
    <p:sldId id="278" r:id="rId4"/>
    <p:sldId id="263" r:id="rId5"/>
    <p:sldId id="273" r:id="rId6"/>
    <p:sldId id="279" r:id="rId7"/>
    <p:sldId id="274" r:id="rId8"/>
    <p:sldId id="275" r:id="rId9"/>
    <p:sldId id="267" r:id="rId10"/>
    <p:sldId id="276" r:id="rId11"/>
    <p:sldId id="268" r:id="rId12"/>
    <p:sldId id="284" r:id="rId13"/>
    <p:sldId id="282" r:id="rId14"/>
    <p:sldId id="283" r:id="rId15"/>
    <p:sldId id="280" r:id="rId16"/>
    <p:sldId id="28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0F74-E388-7BC9-DBD3-D946AED88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8DBCB-6708-CB5B-7E4B-864D2F81F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2677-168E-D1A3-2E63-8F5BC3EA7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4091B-E193-FA82-4315-5F7F9C42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EAE20-33A7-B127-6B72-08EA16D7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84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3312-F9A9-1998-8D2B-A6BABC9C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B652E-6D4D-00B6-BAE5-AF1529AF6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13E49-7BF9-D0B7-32A4-7B0982D0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BA7B1-06FE-EE17-E3CF-D5B109CF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AC92E-8A78-3E97-EB8C-CD55C75AC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0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9B1B-D60E-8814-EE53-FD59620A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4785D-2CC7-AC3B-48BB-2797656C4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33D03-ABAA-FC1E-AAEC-1408B670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FAAFE-5ED8-4680-D950-96B29F52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26C30-B2CA-EB01-9FD1-48C777A4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5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0643-55CA-CC1E-DCAF-6460F9BC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43948-2D7B-4A94-4E21-FCF28099A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E9AC4-F277-6B94-0BEB-01325C36B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E1B1A-DB83-D726-08E1-94B7E244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C792E-0CB0-E89D-9A91-8C0A90EE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5D21F-C117-0A23-34F5-05EA0C7A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8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6407-ADED-2596-7B07-AFCCB6A8B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63E9D-CDA4-6ED1-4FDD-B1C962918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91769-DC9E-AC40-F482-BD74D0ED5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F9696-E59C-316A-74A1-581BAD464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31CC5-F580-85C9-622C-553C05E94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5728E2-3D2F-18A1-FB4A-76986151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0286C-BF6D-FAE5-44D7-1554199F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65CE3-3110-B5A4-9AC9-280A0FF2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52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83DC-8624-3656-4512-2CFA4EF3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23E2A-5A41-E479-74D8-35F7E81D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3830A-1646-AF00-9405-31F9E7B6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818AF-D12F-5E21-7E44-FE86523C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672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E746A-C690-A117-2228-AAD2CAAC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99124-6DB3-8E77-3909-9241C7C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FBA31-E9E5-AF9F-D41D-4D0083D2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19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AA41-CB46-DA2C-DD8E-B82CD10F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3825-4C69-375D-31E6-B2B2EE4F6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01041-411C-D4BF-00A1-65C86707A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41DC0-28A6-9A5A-5D51-EAE15339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AFDF9-B7F9-54FE-4A7F-4D5E940A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F4189-3277-79B7-3676-C4AAF9D6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68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3A7E-70A0-2D62-F080-7F3651D3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115D0F-0E7F-8BE7-06F4-3CED037FB0C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E264F-227F-17AF-C488-40828192C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D13D4-298C-EB1B-6034-7DD94401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08ACE-E1B6-7F5A-687F-3434AB8A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73840-5E28-6711-38EC-AE6804D2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2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71A4-EFCE-0BF2-F412-41DCB4AF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4702F-AE20-079F-EF61-E16C49DA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3B6A7-B3AB-808A-D4F6-0B3E0156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C2DD5-A5F1-4B98-0227-CD563906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037DB-84A7-044C-0D43-F50A6D87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326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7CF4B0-FD0D-FA87-4720-BF82A16A0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328E5-C18E-B298-6CC2-AF2C20EFB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87A9-7061-1184-68CA-3E0C7C7B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1321F-AF2F-5264-00B7-FAEBF72D6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F15B5-4AFF-D5C5-930E-02501EC9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51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EDE3-1CC9-1E9E-382A-779446B2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7D6D0-5125-BF68-88EE-9CC765660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CAD7D-4AED-B94D-E7BD-7DA917BB5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03DDD-5519-4EA1-81E4-1A5B9A73FFDE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53489-C3EB-B2E6-9E6F-04040BDDC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A17C7-3943-F906-A721-B1EDF1E32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5A493-94B6-4108-BAEA-09E0D51EB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10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367D-2BDF-4A69-7835-501A23D9B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363C2F9-9BF8-9D84-74CA-A761C778E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6ECF44-0BBF-A5D7-AE93-73FEABEEEA61}"/>
              </a:ext>
            </a:extLst>
          </p:cNvPr>
          <p:cNvSpPr txBox="1"/>
          <p:nvPr/>
        </p:nvSpPr>
        <p:spPr>
          <a:xfrm>
            <a:off x="1155940" y="3025457"/>
            <a:ext cx="10619116" cy="100335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2700" b="1">
                <a:solidFill>
                  <a:srgbClr val="0C3569"/>
                </a:solidFill>
                <a:latin typeface="Aptos"/>
              </a:defRPr>
            </a:pPr>
            <a:r>
              <a:rPr lang="en-IN" sz="3200" dirty="0"/>
              <a:t>customer shopping behavior project using python, </a:t>
            </a:r>
            <a:r>
              <a:rPr lang="en-IN" sz="3200" dirty="0" err="1"/>
              <a:t>sql</a:t>
            </a:r>
            <a:r>
              <a:rPr lang="en-IN" sz="3200" dirty="0"/>
              <a:t> and power bi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91AD774-B27D-45C3-B15A-71FF958AD042}"/>
              </a:ext>
            </a:extLst>
          </p:cNvPr>
          <p:cNvSpPr/>
          <p:nvPr/>
        </p:nvSpPr>
        <p:spPr>
          <a:xfrm>
            <a:off x="2318479" y="1282921"/>
            <a:ext cx="611910" cy="41148"/>
          </a:xfrm>
          <a:prstGeom prst="roundRect">
            <a:avLst/>
          </a:prstGeom>
          <a:solidFill>
            <a:srgbClr val="FF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8272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61229C-1FFE-C1F8-1200-9393C0911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93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3E32A-A2D1-A259-1544-024193EED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CBB58F3-D8A9-A409-D74F-2C7B9D406AA9}"/>
              </a:ext>
            </a:extLst>
          </p:cNvPr>
          <p:cNvSpPr/>
          <p:nvPr/>
        </p:nvSpPr>
        <p:spPr>
          <a:xfrm>
            <a:off x="594360" y="1179576"/>
            <a:ext cx="2121408" cy="203911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DC028D-7C1C-B7B9-FDE9-9573B5021A51}"/>
              </a:ext>
            </a:extLst>
          </p:cNvPr>
          <p:cNvSpPr/>
          <p:nvPr/>
        </p:nvSpPr>
        <p:spPr>
          <a:xfrm>
            <a:off x="2715768" y="1179575"/>
            <a:ext cx="2798064" cy="245973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7ABC14-75C1-7A40-4EC5-148B45A2EB5C}"/>
              </a:ext>
            </a:extLst>
          </p:cNvPr>
          <p:cNvSpPr/>
          <p:nvPr/>
        </p:nvSpPr>
        <p:spPr>
          <a:xfrm>
            <a:off x="5513832" y="1179574"/>
            <a:ext cx="3072384" cy="245973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051FC6-9148-7057-3E1D-60A301CEF309}"/>
              </a:ext>
            </a:extLst>
          </p:cNvPr>
          <p:cNvSpPr/>
          <p:nvPr/>
        </p:nvSpPr>
        <p:spPr>
          <a:xfrm>
            <a:off x="8586216" y="1179574"/>
            <a:ext cx="2587752" cy="245973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5B03AA-EE93-A63C-3566-5B68C4D94187}"/>
              </a:ext>
            </a:extLst>
          </p:cNvPr>
          <p:cNvSpPr/>
          <p:nvPr/>
        </p:nvSpPr>
        <p:spPr>
          <a:xfrm>
            <a:off x="1121664" y="4398264"/>
            <a:ext cx="2325624" cy="229057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5A647B-F20B-3FB9-7D24-510C278CD1AD}"/>
              </a:ext>
            </a:extLst>
          </p:cNvPr>
          <p:cNvSpPr/>
          <p:nvPr/>
        </p:nvSpPr>
        <p:spPr>
          <a:xfrm>
            <a:off x="3447288" y="4398264"/>
            <a:ext cx="3611880" cy="229057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2163E0-CA17-6F7F-F957-E92649F95F68}"/>
              </a:ext>
            </a:extLst>
          </p:cNvPr>
          <p:cNvSpPr/>
          <p:nvPr/>
        </p:nvSpPr>
        <p:spPr>
          <a:xfrm>
            <a:off x="7129272" y="4398264"/>
            <a:ext cx="3715512" cy="229057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241C5C-7E13-260D-57A2-08C897ABF552}"/>
              </a:ext>
            </a:extLst>
          </p:cNvPr>
          <p:cNvSpPr/>
          <p:nvPr/>
        </p:nvSpPr>
        <p:spPr>
          <a:xfrm>
            <a:off x="11173968" y="2157984"/>
            <a:ext cx="693229" cy="1938528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95ECD1-2AF1-1D6E-D12D-E8529CE34F3A}"/>
              </a:ext>
            </a:extLst>
          </p:cNvPr>
          <p:cNvSpPr/>
          <p:nvPr/>
        </p:nvSpPr>
        <p:spPr>
          <a:xfrm rot="16200000">
            <a:off x="5893309" y="-964695"/>
            <a:ext cx="758953" cy="996696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66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D02C-E09E-B3D0-080E-B583F4E56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B3CC6B1-8D94-A62C-447F-26CCF502B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CE37CF-3B46-B262-2587-0E84ADEF7F48}"/>
              </a:ext>
            </a:extLst>
          </p:cNvPr>
          <p:cNvSpPr txBox="1"/>
          <p:nvPr/>
        </p:nvSpPr>
        <p:spPr>
          <a:xfrm>
            <a:off x="1" y="825721"/>
            <a:ext cx="10619116" cy="51090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2700" b="1">
                <a:solidFill>
                  <a:srgbClr val="0C3569"/>
                </a:solidFill>
                <a:latin typeface="Aptos"/>
              </a:defRPr>
            </a:pPr>
            <a:r>
              <a:rPr sz="3200" dirty="0"/>
              <a:t>BUSINESS PROBLEM STATEMENT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D5FB405A-2051-ACF0-0871-023AD1BA7B8E}"/>
              </a:ext>
            </a:extLst>
          </p:cNvPr>
          <p:cNvSpPr/>
          <p:nvPr/>
        </p:nvSpPr>
        <p:spPr>
          <a:xfrm>
            <a:off x="2318479" y="1282921"/>
            <a:ext cx="611910" cy="41148"/>
          </a:xfrm>
          <a:prstGeom prst="roundRect">
            <a:avLst/>
          </a:prstGeom>
          <a:solidFill>
            <a:srgbClr val="FF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BE7227-A149-F306-64A5-7D48194F5251}"/>
              </a:ext>
            </a:extLst>
          </p:cNvPr>
          <p:cNvSpPr txBox="1"/>
          <p:nvPr/>
        </p:nvSpPr>
        <p:spPr>
          <a:xfrm>
            <a:off x="2208362" y="1500996"/>
            <a:ext cx="87126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retail company wants to understand customer shopping behavior to improve sales, customer engagement, customer loyalty, and marketing effectiveness.</a:t>
            </a:r>
          </a:p>
          <a:p>
            <a:endParaRPr lang="en-US" sz="2000" dirty="0"/>
          </a:p>
          <a:p>
            <a:r>
              <a:rPr lang="en-IN" sz="2000" dirty="0"/>
              <a:t>The company wants to identify how customer demographics, product preferences, discounts, shipping methods, reviews, and subscription status relate to purchasing behavior and revenue.</a:t>
            </a:r>
          </a:p>
          <a:p>
            <a:endParaRPr lang="en-IN" sz="2000" dirty="0"/>
          </a:p>
          <a:p>
            <a:pPr algn="ctr"/>
            <a:r>
              <a:rPr lang="en-US" sz="2400" b="1" dirty="0">
                <a:solidFill>
                  <a:srgbClr val="0C3569"/>
                </a:solidFill>
                <a:latin typeface="Aptos"/>
              </a:rPr>
              <a:t>Main business question</a:t>
            </a:r>
          </a:p>
          <a:p>
            <a:r>
              <a:rPr lang="en-US" sz="2000" b="1" dirty="0"/>
              <a:t>How can the company use customer shopping data to identify purchasing trends, improve customer engagement, and optimize marketing and product strategies?</a:t>
            </a:r>
          </a:p>
        </p:txBody>
      </p:sp>
    </p:spTree>
    <p:extLst>
      <p:ext uri="{BB962C8B-B14F-4D97-AF65-F5344CB8AC3E}">
        <p14:creationId xmlns:p14="http://schemas.microsoft.com/office/powerpoint/2010/main" val="354832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40BB-D283-7B81-E38E-D643C08A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EBE1486-9D7D-67D0-889E-040A39BD0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8CCC1C-589D-9BC7-2DD4-4F1BFB80B4FD}"/>
              </a:ext>
            </a:extLst>
          </p:cNvPr>
          <p:cNvSpPr txBox="1"/>
          <p:nvPr/>
        </p:nvSpPr>
        <p:spPr>
          <a:xfrm>
            <a:off x="-1" y="37633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7030A0"/>
                </a:solidFill>
                <a:latin typeface="Aptos"/>
              </a:rPr>
              <a:t>PROJECT</a:t>
            </a:r>
            <a:r>
              <a:rPr lang="en-US" sz="4000" b="1" dirty="0">
                <a:solidFill>
                  <a:srgbClr val="0C3569"/>
                </a:solidFill>
                <a:latin typeface="Aptos"/>
              </a:rPr>
              <a:t> DELIVERABLES</a:t>
            </a:r>
            <a:endParaRPr lang="en-IN" sz="4000" b="1" dirty="0">
              <a:solidFill>
                <a:srgbClr val="0C3569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9E4D7-A606-13CD-9286-D7CEB0C419AD}"/>
              </a:ext>
            </a:extLst>
          </p:cNvPr>
          <p:cNvSpPr txBox="1"/>
          <p:nvPr/>
        </p:nvSpPr>
        <p:spPr>
          <a:xfrm>
            <a:off x="2260122" y="1298991"/>
            <a:ext cx="92475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5"/>
                </a:solidFill>
                <a:latin typeface="Aptos"/>
              </a:rPr>
              <a:t>1. Data Cleaning &amp; Preparation (Python)</a:t>
            </a:r>
            <a:br>
              <a:rPr lang="en-IN" sz="1600" dirty="0"/>
            </a:b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Clean and transform the raw dataset, handle missing values, standardize column names, and prepare data for analysis.</a:t>
            </a:r>
          </a:p>
          <a:p>
            <a:pPr marL="342900" indent="-342900">
              <a:buAutoNum type="arabicPeriod"/>
            </a:pPr>
            <a:endParaRPr lang="en-IN" sz="1600" b="1" dirty="0">
              <a:solidFill>
                <a:srgbClr val="0069D2"/>
              </a:solidFill>
              <a:latin typeface="Aptos"/>
            </a:endParaRPr>
          </a:p>
          <a:p>
            <a:pPr>
              <a:buNone/>
            </a:pPr>
            <a:r>
              <a:rPr lang="en-IN" sz="1600" b="1" dirty="0">
                <a:solidFill>
                  <a:schemeClr val="accent5"/>
                </a:solidFill>
                <a:latin typeface="Aptos"/>
              </a:rPr>
              <a:t>2. Business Data Analysis (SQL)</a:t>
            </a:r>
            <a:br>
              <a:rPr lang="en-IN" sz="1600" dirty="0"/>
            </a:br>
            <a:r>
              <a:rPr lang="en-I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Analyze</a:t>
            </a: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 customer shopping behavior using SQL queries to uncover insights into revenue, product performance, discounts, and customer loyalty.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5"/>
                </a:solidFill>
                <a:latin typeface="Aptos"/>
              </a:rPr>
              <a:t>3. Dashboard &amp; Visualization (Power BI)</a:t>
            </a:r>
            <a:br>
              <a:rPr lang="en-IN" sz="1600" dirty="0"/>
            </a:b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Build an interactive dashboard to visualize key metrics, customer trends, and business performance.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5"/>
                </a:solidFill>
                <a:latin typeface="Aptos"/>
              </a:rPr>
              <a:t>4. Business Insights &amp; Recommendations</a:t>
            </a:r>
            <a:br>
              <a:rPr lang="en-IN" sz="1600" dirty="0"/>
            </a:b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Summarize key findings and recommend actionable strategies to improve customer engagement, marketing, and sales.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>
                <a:solidFill>
                  <a:schemeClr val="accent5"/>
                </a:solidFill>
                <a:latin typeface="Aptos"/>
              </a:rPr>
              <a:t>5. Project Documentation &amp; GitHub</a:t>
            </a:r>
            <a:br>
              <a:rPr lang="en-IN" sz="1600" dirty="0"/>
            </a:b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Organize the Python notebook, SQL queries, Power BI dashboard, and project documentation for portfolio presentation.</a:t>
            </a:r>
          </a:p>
        </p:txBody>
      </p:sp>
    </p:spTree>
    <p:extLst>
      <p:ext uri="{BB962C8B-B14F-4D97-AF65-F5344CB8AC3E}">
        <p14:creationId xmlns:p14="http://schemas.microsoft.com/office/powerpoint/2010/main" val="795117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0B83-60D9-2E5A-242F-5E217DC9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7F38503-1A69-3764-663E-33BA864AE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B8269D-CDE5-2307-5004-4EC44EC70CD0}"/>
              </a:ext>
            </a:extLst>
          </p:cNvPr>
          <p:cNvSpPr txBox="1"/>
          <p:nvPr/>
        </p:nvSpPr>
        <p:spPr>
          <a:xfrm>
            <a:off x="0" y="1324069"/>
            <a:ext cx="12191999" cy="1372683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2700" b="1">
                <a:solidFill>
                  <a:srgbClr val="0C3569"/>
                </a:solidFill>
                <a:latin typeface="Aptos"/>
              </a:defRPr>
            </a:pPr>
            <a:r>
              <a:rPr lang="en-US" sz="8800" dirty="0"/>
              <a:t>Understand Data</a:t>
            </a:r>
            <a:endParaRPr sz="880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2CE266F7-53DF-662B-389D-BEB6B7266AAD}"/>
              </a:ext>
            </a:extLst>
          </p:cNvPr>
          <p:cNvSpPr/>
          <p:nvPr/>
        </p:nvSpPr>
        <p:spPr>
          <a:xfrm>
            <a:off x="2318479" y="1282921"/>
            <a:ext cx="611910" cy="41148"/>
          </a:xfrm>
          <a:prstGeom prst="roundRect">
            <a:avLst/>
          </a:prstGeom>
          <a:solidFill>
            <a:srgbClr val="FF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51432-0FE6-7621-9D66-8FB2A2C77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06" y="2825717"/>
            <a:ext cx="2133785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5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3D824-B500-FC77-CA8C-5937B322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616042-02D2-D6E1-290C-B4DBEF9B4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46A3DC-153E-BC18-1F20-52F6BA854197}"/>
              </a:ext>
            </a:extLst>
          </p:cNvPr>
          <p:cNvSpPr txBox="1"/>
          <p:nvPr/>
        </p:nvSpPr>
        <p:spPr>
          <a:xfrm>
            <a:off x="-1" y="376333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7030A0"/>
                </a:solidFill>
                <a:latin typeface="Aptos"/>
              </a:rPr>
              <a:t>DATA CLEANING &amp; PREPARATION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0C3569"/>
                </a:solidFill>
                <a:latin typeface="Aptos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Aptos"/>
              </a:rPr>
              <a:t>PYTHON</a:t>
            </a:r>
            <a:r>
              <a:rPr lang="en-US" sz="4000" b="1" dirty="0">
                <a:solidFill>
                  <a:srgbClr val="0C3569"/>
                </a:solidFill>
                <a:latin typeface="Aptos"/>
              </a:rPr>
              <a:t>)</a:t>
            </a:r>
            <a:endParaRPr lang="en-IN" sz="4000" b="1" dirty="0">
              <a:solidFill>
                <a:srgbClr val="0C3569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DDBE0-6669-7698-98DC-87750B8A6ECE}"/>
              </a:ext>
            </a:extLst>
          </p:cNvPr>
          <p:cNvSpPr txBox="1"/>
          <p:nvPr/>
        </p:nvSpPr>
        <p:spPr>
          <a:xfrm>
            <a:off x="2154805" y="1866059"/>
            <a:ext cx="82917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Missing Value Treatment</a:t>
            </a:r>
            <a:r>
              <a:rPr lang="en-IN" dirty="0"/>
              <a:t> — Imputed 37 missing review ratings using the median rating of each product category.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Column Name Standardization</a:t>
            </a:r>
            <a:r>
              <a:rPr lang="en-IN" dirty="0"/>
              <a:t> — Converted column names into lowercase </a:t>
            </a:r>
            <a:r>
              <a:rPr lang="en-IN" dirty="0" err="1"/>
              <a:t>snake_case</a:t>
            </a:r>
            <a:r>
              <a:rPr lang="en-IN" dirty="0"/>
              <a:t> format for consistency.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Feature Engineering</a:t>
            </a:r>
            <a:r>
              <a:rPr lang="en-IN" dirty="0"/>
              <a:t> — Created an </a:t>
            </a:r>
            <a:r>
              <a:rPr lang="en-IN" dirty="0" err="1">
                <a:latin typeface="+mn-lt"/>
              </a:rPr>
              <a:t>age_group</a:t>
            </a:r>
            <a:r>
              <a:rPr lang="en-IN" dirty="0"/>
              <a:t> column to categorize customers into four age groups.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Transformation</a:t>
            </a:r>
            <a:r>
              <a:rPr lang="en-IN" dirty="0"/>
              <a:t> — Converted purchase frequency categories into numeric day values.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Redundant Column Removal</a:t>
            </a:r>
            <a:r>
              <a:rPr lang="en-IN" dirty="0"/>
              <a:t> — Removed </a:t>
            </a:r>
            <a:r>
              <a:rPr lang="en-IN" dirty="0" err="1">
                <a:latin typeface="+mn-lt"/>
              </a:rPr>
              <a:t>promo_code_used</a:t>
            </a:r>
            <a:r>
              <a:rPr lang="en-IN" dirty="0"/>
              <a:t> after confirming it matched </a:t>
            </a:r>
            <a:r>
              <a:rPr lang="en-IN" dirty="0" err="1">
                <a:latin typeface="+mn-lt"/>
              </a:rPr>
              <a:t>discount_applied</a:t>
            </a:r>
            <a:r>
              <a:rPr lang="en-IN" dirty="0"/>
              <a:t> across all records.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Validation</a:t>
            </a:r>
            <a:r>
              <a:rPr lang="en-IN" dirty="0"/>
              <a:t> — Verified that no missing values remained after the cleaning process.</a:t>
            </a:r>
          </a:p>
        </p:txBody>
      </p:sp>
    </p:spTree>
    <p:extLst>
      <p:ext uri="{BB962C8B-B14F-4D97-AF65-F5344CB8AC3E}">
        <p14:creationId xmlns:p14="http://schemas.microsoft.com/office/powerpoint/2010/main" val="341337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C6EB0-B5FC-043C-65B0-7F5E7A70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4710CA-48E0-250C-68EE-69FDDD24E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751F5C-52D8-1535-C4E1-C965DEAC0254}"/>
              </a:ext>
            </a:extLst>
          </p:cNvPr>
          <p:cNvSpPr txBox="1"/>
          <p:nvPr/>
        </p:nvSpPr>
        <p:spPr>
          <a:xfrm>
            <a:off x="-1" y="37633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7030A0"/>
                </a:solidFill>
                <a:latin typeface="Aptos"/>
              </a:rPr>
              <a:t>DATA ANALYSIS </a:t>
            </a:r>
            <a:r>
              <a:rPr lang="en-US" sz="4000" b="1" dirty="0">
                <a:solidFill>
                  <a:srgbClr val="0C3569"/>
                </a:solidFill>
                <a:latin typeface="Aptos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Aptos"/>
              </a:rPr>
              <a:t>SQL</a:t>
            </a:r>
            <a:r>
              <a:rPr lang="en-US" sz="4000" b="1" dirty="0">
                <a:solidFill>
                  <a:srgbClr val="0C3569"/>
                </a:solidFill>
                <a:latin typeface="Aptos"/>
              </a:rPr>
              <a:t>)</a:t>
            </a:r>
            <a:endParaRPr lang="en-IN" sz="4000" b="1" dirty="0">
              <a:solidFill>
                <a:srgbClr val="0C3569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72DFA-CBD6-7143-F7B2-B22F801E279B}"/>
              </a:ext>
            </a:extLst>
          </p:cNvPr>
          <p:cNvSpPr txBox="1"/>
          <p:nvPr/>
        </p:nvSpPr>
        <p:spPr>
          <a:xfrm>
            <a:off x="1871932" y="1201825"/>
            <a:ext cx="99548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Revenue Analysis</a:t>
            </a:r>
            <a:r>
              <a:rPr lang="en-IN" dirty="0"/>
              <a:t> — Compared total revenue generated by male and female customers.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Discount &amp; Spending Analysis</a:t>
            </a:r>
            <a:r>
              <a:rPr lang="en-IN" dirty="0"/>
              <a:t> — Identified discount users whose purchase amounts were at or above the overall average.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Product Rating Analysis</a:t>
            </a:r>
            <a:r>
              <a:rPr lang="en-IN" dirty="0"/>
              <a:t> — Ranked the top 5 products by average review rating.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Shipping Analysis</a:t>
            </a:r>
            <a:r>
              <a:rPr lang="en-IN" dirty="0"/>
              <a:t> — Compared average purchase amounts for Standard and Express shipping.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Subscription Analysis</a:t>
            </a:r>
            <a:r>
              <a:rPr lang="en-IN" dirty="0"/>
              <a:t> — Compared customer counts, average spending, and total revenue between subscribers and non-subscribers.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Discount Dependency Analysis</a:t>
            </a:r>
            <a:r>
              <a:rPr lang="en-IN" dirty="0"/>
              <a:t> — Identified the top 5 products by percentage of purchases with discounts applied.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Customer Segmentation</a:t>
            </a:r>
            <a:r>
              <a:rPr lang="en-IN" dirty="0"/>
              <a:t> — Classified customers into New, Returning, and Loyal segments based on previous purchases.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Product Popularity Analysis</a:t>
            </a:r>
            <a:r>
              <a:rPr lang="en-IN" dirty="0"/>
              <a:t> — Identified the top 3 most purchased products within each category.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Repeat Buyer Analysis</a:t>
            </a:r>
            <a:r>
              <a:rPr lang="en-IN" dirty="0"/>
              <a:t> — Compared subscription status among customers with more than 5 previous purchases.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Age Group Revenue Analysis</a:t>
            </a:r>
            <a:r>
              <a:rPr lang="en-IN" dirty="0"/>
              <a:t> — Compared total revenue across customer age groups.</a:t>
            </a:r>
          </a:p>
        </p:txBody>
      </p:sp>
    </p:spTree>
    <p:extLst>
      <p:ext uri="{BB962C8B-B14F-4D97-AF65-F5344CB8AC3E}">
        <p14:creationId xmlns:p14="http://schemas.microsoft.com/office/powerpoint/2010/main" val="218422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0F7D61-FF96-A5D6-70F7-D77CB0AD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"/>
            <a:ext cx="12192000" cy="68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3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20E42-1A35-7F16-7958-726A220A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61F047F-2691-44AE-3780-E59E4AE41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9FFEC00-DCD7-6BBD-981B-2E78B86859F1}"/>
              </a:ext>
            </a:extLst>
          </p:cNvPr>
          <p:cNvSpPr txBox="1"/>
          <p:nvPr/>
        </p:nvSpPr>
        <p:spPr>
          <a:xfrm>
            <a:off x="-1" y="37633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latin typeface="Aptos"/>
              </a:rPr>
              <a:t>POWER BI </a:t>
            </a:r>
            <a:r>
              <a:rPr lang="en-US" sz="4000" b="1" dirty="0">
                <a:solidFill>
                  <a:srgbClr val="7030A0"/>
                </a:solidFill>
                <a:latin typeface="Aptos"/>
              </a:rPr>
              <a:t>DASHBOARD</a:t>
            </a:r>
            <a:endParaRPr lang="en-IN" sz="4000" b="1" dirty="0">
              <a:solidFill>
                <a:srgbClr val="0C3569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0CAA4-B6BA-B98E-9043-F5488FAC275F}"/>
              </a:ext>
            </a:extLst>
          </p:cNvPr>
          <p:cNvSpPr txBox="1"/>
          <p:nvPr/>
        </p:nvSpPr>
        <p:spPr>
          <a:xfrm>
            <a:off x="3390181" y="994790"/>
            <a:ext cx="721168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1. Key Performance Indicators (KPIs)</a:t>
            </a:r>
          </a:p>
          <a:p>
            <a:r>
              <a:rPr lang="en-IN" sz="2000" b="1" dirty="0"/>
              <a:t>	</a:t>
            </a:r>
            <a:r>
              <a:rPr lang="en-IN" sz="2000" dirty="0"/>
              <a:t>Total Number of Customers</a:t>
            </a:r>
          </a:p>
          <a:p>
            <a:pPr lvl="2"/>
            <a:r>
              <a:rPr lang="en-IN" sz="2000" dirty="0"/>
              <a:t>Total Purchase Revenue</a:t>
            </a:r>
          </a:p>
          <a:p>
            <a:pPr lvl="2"/>
            <a:r>
              <a:rPr lang="en-IN" sz="2000" dirty="0"/>
              <a:t>Average Purchase Amount</a:t>
            </a:r>
          </a:p>
          <a:p>
            <a:pPr lvl="2"/>
            <a:r>
              <a:rPr lang="en-IN" sz="2000" dirty="0"/>
              <a:t>Average Review Rating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2. Data Visualizations</a:t>
            </a:r>
          </a:p>
          <a:p>
            <a:pPr lvl="2"/>
            <a:r>
              <a:rPr lang="en-IN" sz="2000" dirty="0"/>
              <a:t>Customer Distribution by Subscription Status</a:t>
            </a:r>
          </a:p>
          <a:p>
            <a:pPr lvl="2"/>
            <a:r>
              <a:rPr lang="en-IN" sz="2000" dirty="0"/>
              <a:t>Revenue by Product Category</a:t>
            </a:r>
          </a:p>
          <a:p>
            <a:pPr lvl="2"/>
            <a:r>
              <a:rPr lang="en-IN" sz="2000" dirty="0"/>
              <a:t>Sales by Age Group</a:t>
            </a:r>
          </a:p>
          <a:p>
            <a:pPr lvl="2"/>
            <a:r>
              <a:rPr lang="en-IN" sz="2000" dirty="0"/>
              <a:t>Purchase Amount by Gender</a:t>
            </a:r>
          </a:p>
          <a:p>
            <a:pPr lvl="2"/>
            <a:r>
              <a:rPr lang="en-IN" sz="2000" dirty="0"/>
              <a:t>Top 10 Products by Revenue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3. Interactive Slicers</a:t>
            </a:r>
          </a:p>
          <a:p>
            <a:pPr lvl="2"/>
            <a:r>
              <a:rPr lang="en-IN" sz="2000" dirty="0"/>
              <a:t>Subscription Status</a:t>
            </a:r>
          </a:p>
          <a:p>
            <a:pPr lvl="2"/>
            <a:r>
              <a:rPr lang="en-IN" sz="2000" dirty="0"/>
              <a:t>Gender</a:t>
            </a:r>
          </a:p>
          <a:p>
            <a:pPr lvl="2"/>
            <a:r>
              <a:rPr lang="en-IN" sz="2000" dirty="0"/>
              <a:t>Product Category</a:t>
            </a:r>
          </a:p>
          <a:p>
            <a:pPr lvl="2"/>
            <a:r>
              <a:rPr lang="en-IN" sz="2000" dirty="0"/>
              <a:t>Shipping Type</a:t>
            </a:r>
          </a:p>
          <a:p>
            <a:pPr lvl="2"/>
            <a:r>
              <a:rPr lang="en-IN" sz="2000" dirty="0"/>
              <a:t>Payment Method</a:t>
            </a:r>
          </a:p>
        </p:txBody>
      </p:sp>
    </p:spTree>
    <p:extLst>
      <p:ext uri="{BB962C8B-B14F-4D97-AF65-F5344CB8AC3E}">
        <p14:creationId xmlns:p14="http://schemas.microsoft.com/office/powerpoint/2010/main" val="1042863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osite Model in Power BI; DirectQuery and Import Data Combined - RADACAD">
            <a:extLst>
              <a:ext uri="{FF2B5EF4-FFF2-40B4-BE49-F238E27FC236}">
                <a16:creationId xmlns:a16="http://schemas.microsoft.com/office/drawing/2014/main" id="{CEB5AD7D-9D2F-E014-E151-34AF8EB6A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60"/>
          <a:stretch>
            <a:fillRect/>
          </a:stretch>
        </p:blipFill>
        <p:spPr>
          <a:xfrm>
            <a:off x="2075663" y="992037"/>
            <a:ext cx="6985377" cy="440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8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CC218-E2B1-9D33-3C01-D6263A48F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" t="886" r="428" b="886"/>
          <a:stretch>
            <a:fillRect/>
          </a:stretch>
        </p:blipFill>
        <p:spPr>
          <a:xfrm>
            <a:off x="0" y="-1"/>
            <a:ext cx="12106206" cy="677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38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EEEF-3336-A5B0-A282-B3E9F77E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0B460F-1DA1-3070-F96A-C95B3C26C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81B0EB-164D-4C19-DB68-2CFF9DA81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35" t="62767" r="40773"/>
          <a:stretch>
            <a:fillRect/>
          </a:stretch>
        </p:blipFill>
        <p:spPr>
          <a:xfrm>
            <a:off x="2690694" y="2022894"/>
            <a:ext cx="2424023" cy="25534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E6A6D8-0FEC-DC6A-F883-E87B1197FCC1}"/>
              </a:ext>
            </a:extLst>
          </p:cNvPr>
          <p:cNvSpPr/>
          <p:nvPr/>
        </p:nvSpPr>
        <p:spPr>
          <a:xfrm>
            <a:off x="2577115" y="2022894"/>
            <a:ext cx="785003" cy="73755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B2B39-9AB6-2FB0-4CDD-212EC4575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3" t="64989" r="70855" b="-2222"/>
          <a:stretch>
            <a:fillRect/>
          </a:stretch>
        </p:blipFill>
        <p:spPr>
          <a:xfrm>
            <a:off x="7077285" y="2244304"/>
            <a:ext cx="2424023" cy="25534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291557E-D7DE-E3C1-D7A7-5FB0DFAF50AB}"/>
              </a:ext>
            </a:extLst>
          </p:cNvPr>
          <p:cNvSpPr/>
          <p:nvPr/>
        </p:nvSpPr>
        <p:spPr>
          <a:xfrm>
            <a:off x="6956458" y="2166668"/>
            <a:ext cx="785003" cy="73755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1CBAE-A805-12C3-D6DB-59DDA6A6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88F8298-ABBD-73DF-B167-54FD4D868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" t="4151" r="1723" b="11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FE92FB-D27E-3782-349B-16306CD35572}"/>
              </a:ext>
            </a:extLst>
          </p:cNvPr>
          <p:cNvSpPr/>
          <p:nvPr/>
        </p:nvSpPr>
        <p:spPr>
          <a:xfrm>
            <a:off x="3293107" y="1875524"/>
            <a:ext cx="785003" cy="73755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EE26E7-96FD-B478-1870-FC3A27FEF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81" t="61975" r="10327" b="792"/>
          <a:stretch>
            <a:fillRect/>
          </a:stretch>
        </p:blipFill>
        <p:spPr>
          <a:xfrm>
            <a:off x="4883988" y="1875524"/>
            <a:ext cx="2424023" cy="25534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39C4C7-D3D4-D72B-0BAD-2794844C7C95}"/>
              </a:ext>
            </a:extLst>
          </p:cNvPr>
          <p:cNvSpPr/>
          <p:nvPr/>
        </p:nvSpPr>
        <p:spPr>
          <a:xfrm>
            <a:off x="4752019" y="2004911"/>
            <a:ext cx="785003" cy="73755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868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79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143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111BB93-7E07-02D8-E16E-1D7B51476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52C722-C028-1023-215E-C6DA89B0A751}"/>
              </a:ext>
            </a:extLst>
          </p:cNvPr>
          <p:cNvSpPr txBox="1"/>
          <p:nvPr/>
        </p:nvSpPr>
        <p:spPr>
          <a:xfrm>
            <a:off x="1" y="825721"/>
            <a:ext cx="10619116" cy="510909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2700" b="1">
                <a:solidFill>
                  <a:srgbClr val="0C3569"/>
                </a:solidFill>
                <a:latin typeface="Aptos"/>
              </a:defRPr>
            </a:pPr>
            <a:r>
              <a:rPr sz="3200" dirty="0"/>
              <a:t>BUSINESS PROBLEM STATEMENT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573ABDC2-0A9B-9547-5AC9-09D86BE6AB39}"/>
              </a:ext>
            </a:extLst>
          </p:cNvPr>
          <p:cNvSpPr/>
          <p:nvPr/>
        </p:nvSpPr>
        <p:spPr>
          <a:xfrm>
            <a:off x="2318479" y="1282921"/>
            <a:ext cx="611910" cy="41148"/>
          </a:xfrm>
          <a:prstGeom prst="roundRect">
            <a:avLst/>
          </a:prstGeom>
          <a:solidFill>
            <a:srgbClr val="FF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F28590-E4DA-F264-E31D-587BD02F9549}"/>
              </a:ext>
            </a:extLst>
          </p:cNvPr>
          <p:cNvGrpSpPr/>
          <p:nvPr/>
        </p:nvGrpSpPr>
        <p:grpSpPr>
          <a:xfrm>
            <a:off x="2318479" y="2940843"/>
            <a:ext cx="7708578" cy="2312943"/>
            <a:chOff x="2318479" y="2160745"/>
            <a:chExt cx="7708578" cy="23129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2C649E-17F3-6BE1-5FFC-6426B30E630A}"/>
                </a:ext>
              </a:extLst>
            </p:cNvPr>
            <p:cNvSpPr txBox="1"/>
            <p:nvPr/>
          </p:nvSpPr>
          <p:spPr>
            <a:xfrm>
              <a:off x="2318479" y="2160745"/>
              <a:ext cx="4328146" cy="264688"/>
            </a:xfrm>
            <a:prstGeom prst="rect">
              <a:avLst/>
            </a:prstGeom>
            <a:noFill/>
          </p:spPr>
          <p:txBody>
            <a:bodyPr wrap="square" lIns="9144" tIns="9144" rIns="9144" bIns="9144">
              <a:spAutoFit/>
            </a:bodyPr>
            <a:lstStyle/>
            <a:p>
              <a:pPr>
                <a:defRPr sz="1500" b="1">
                  <a:solidFill>
                    <a:srgbClr val="0069D2"/>
                  </a:solidFill>
                  <a:latin typeface="Aptos"/>
                </a:defRPr>
              </a:pPr>
              <a:r>
                <a:rPr sz="1600" dirty="0"/>
                <a:t>KEY BUSINESS OBJECTIVES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F804DA-3D9F-B59B-78EE-6A513178BD72}"/>
                </a:ext>
              </a:extLst>
            </p:cNvPr>
            <p:cNvSpPr/>
            <p:nvPr/>
          </p:nvSpPr>
          <p:spPr>
            <a:xfrm>
              <a:off x="2318479" y="2544793"/>
              <a:ext cx="253719" cy="310896"/>
            </a:xfrm>
            <a:prstGeom prst="ellipse">
              <a:avLst/>
            </a:prstGeom>
            <a:solidFill>
              <a:srgbClr val="E6F3FF"/>
            </a:solidFill>
            <a:ln>
              <a:solidFill>
                <a:srgbClr val="A0CD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defRPr sz="1000" b="1">
                  <a:solidFill>
                    <a:srgbClr val="0069D2"/>
                  </a:solidFill>
                  <a:latin typeface="Aptos"/>
                </a:defRPr>
              </a:pPr>
              <a:r>
                <a:rPr sz="1200"/>
                <a:t>01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11F51B-2A16-A6C6-39C3-1D741B403C3B}"/>
                </a:ext>
              </a:extLst>
            </p:cNvPr>
            <p:cNvSpPr txBox="1"/>
            <p:nvPr/>
          </p:nvSpPr>
          <p:spPr>
            <a:xfrm>
              <a:off x="2676671" y="2526505"/>
              <a:ext cx="3843095" cy="264688"/>
            </a:xfrm>
            <a:prstGeom prst="rect">
              <a:avLst/>
            </a:prstGeom>
            <a:noFill/>
          </p:spPr>
          <p:txBody>
            <a:bodyPr wrap="square" lIns="9144" tIns="9144" rIns="9144" bIns="9144">
              <a:spAutoFit/>
            </a:bodyPr>
            <a:lstStyle/>
            <a:p>
              <a:pPr>
                <a:defRPr sz="1400" b="1">
                  <a:solidFill>
                    <a:srgbClr val="0C3569"/>
                  </a:solidFill>
                  <a:latin typeface="Aptos"/>
                </a:defRPr>
              </a:pPr>
              <a:r>
                <a:rPr sz="1600" dirty="0"/>
                <a:t>Identify shopping trends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4B065CA-362D-1E4E-DB6D-4EC3C8B828C9}"/>
                </a:ext>
              </a:extLst>
            </p:cNvPr>
            <p:cNvSpPr txBox="1"/>
            <p:nvPr/>
          </p:nvSpPr>
          <p:spPr>
            <a:xfrm>
              <a:off x="2676671" y="2800825"/>
              <a:ext cx="7350386" cy="264688"/>
            </a:xfrm>
            <a:prstGeom prst="rect">
              <a:avLst/>
            </a:prstGeom>
            <a:noFill/>
          </p:spPr>
          <p:txBody>
            <a:bodyPr wrap="square" lIns="9144" tIns="9144" rIns="9144" bIns="9144">
              <a:spAutoFit/>
            </a:bodyPr>
            <a:lstStyle/>
            <a:p>
              <a:pPr>
                <a:defRPr sz="1150" b="0">
                  <a:solidFill>
                    <a:srgbClr val="4B5B6C"/>
                  </a:solidFill>
                  <a:latin typeface="Aptos"/>
                </a:defRPr>
              </a:pPr>
              <a:r>
                <a:rPr sz="1600" dirty="0"/>
                <a:t>Compare demographics, product categories, and purchasing patterns.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BBA0E5E-617F-380E-4432-EBE7565526A7}"/>
                </a:ext>
              </a:extLst>
            </p:cNvPr>
            <p:cNvSpPr/>
            <p:nvPr/>
          </p:nvSpPr>
          <p:spPr>
            <a:xfrm>
              <a:off x="2318479" y="3248881"/>
              <a:ext cx="253719" cy="310896"/>
            </a:xfrm>
            <a:prstGeom prst="ellipse">
              <a:avLst/>
            </a:prstGeom>
            <a:solidFill>
              <a:srgbClr val="E6F3FF"/>
            </a:solidFill>
            <a:ln>
              <a:solidFill>
                <a:srgbClr val="A0CD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defRPr sz="1000" b="1">
                  <a:solidFill>
                    <a:srgbClr val="0069D2"/>
                  </a:solidFill>
                  <a:latin typeface="Aptos"/>
                </a:defRPr>
              </a:pPr>
              <a:r>
                <a:rPr sz="1200"/>
                <a:t>02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9A484C-E596-3F35-F989-DAB21AFF6F34}"/>
                </a:ext>
              </a:extLst>
            </p:cNvPr>
            <p:cNvSpPr txBox="1"/>
            <p:nvPr/>
          </p:nvSpPr>
          <p:spPr>
            <a:xfrm>
              <a:off x="2676671" y="3230593"/>
              <a:ext cx="3843095" cy="264688"/>
            </a:xfrm>
            <a:prstGeom prst="rect">
              <a:avLst/>
            </a:prstGeom>
            <a:noFill/>
          </p:spPr>
          <p:txBody>
            <a:bodyPr wrap="square" lIns="9144" tIns="9144" rIns="9144" bIns="9144">
              <a:spAutoFit/>
            </a:bodyPr>
            <a:lstStyle/>
            <a:p>
              <a:pPr>
                <a:defRPr sz="1400" b="1">
                  <a:solidFill>
                    <a:srgbClr val="0C3569"/>
                  </a:solidFill>
                  <a:latin typeface="Aptos"/>
                </a:defRPr>
              </a:pPr>
              <a:r>
                <a:rPr sz="1600"/>
                <a:t>Understand customer behavior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65123F-5E1F-03EA-B994-2939BF209050}"/>
                </a:ext>
              </a:extLst>
            </p:cNvPr>
            <p:cNvSpPr txBox="1"/>
            <p:nvPr/>
          </p:nvSpPr>
          <p:spPr>
            <a:xfrm>
              <a:off x="2676671" y="3504913"/>
              <a:ext cx="7350386" cy="264688"/>
            </a:xfrm>
            <a:prstGeom prst="rect">
              <a:avLst/>
            </a:prstGeom>
            <a:noFill/>
          </p:spPr>
          <p:txBody>
            <a:bodyPr wrap="square" lIns="9144" tIns="9144" rIns="9144" bIns="9144">
              <a:spAutoFit/>
            </a:bodyPr>
            <a:lstStyle/>
            <a:p>
              <a:pPr>
                <a:defRPr sz="1150" b="0">
                  <a:solidFill>
                    <a:srgbClr val="4B5B6C"/>
                  </a:solidFill>
                  <a:latin typeface="Aptos"/>
                </a:defRPr>
              </a:pPr>
              <a:r>
                <a:rPr sz="1600" dirty="0"/>
                <a:t>Explore discounts, reviews, seasons, and payment preferences.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EC44E9D-83DB-B0EC-C8C6-76F2ED0B3D1B}"/>
                </a:ext>
              </a:extLst>
            </p:cNvPr>
            <p:cNvSpPr/>
            <p:nvPr/>
          </p:nvSpPr>
          <p:spPr>
            <a:xfrm>
              <a:off x="2318479" y="3952968"/>
              <a:ext cx="253719" cy="310896"/>
            </a:xfrm>
            <a:prstGeom prst="ellipse">
              <a:avLst/>
            </a:prstGeom>
            <a:solidFill>
              <a:srgbClr val="E6F3FF"/>
            </a:solidFill>
            <a:ln>
              <a:solidFill>
                <a:srgbClr val="A0CD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defRPr sz="1000" b="1">
                  <a:solidFill>
                    <a:srgbClr val="0069D2"/>
                  </a:solidFill>
                  <a:latin typeface="Aptos"/>
                </a:defRPr>
              </a:pPr>
              <a:r>
                <a:rPr sz="1200"/>
                <a:t>03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C2E7C5-09EB-BAC5-A7F8-FEA213438932}"/>
                </a:ext>
              </a:extLst>
            </p:cNvPr>
            <p:cNvSpPr txBox="1"/>
            <p:nvPr/>
          </p:nvSpPr>
          <p:spPr>
            <a:xfrm>
              <a:off x="2676671" y="3934680"/>
              <a:ext cx="3843095" cy="264688"/>
            </a:xfrm>
            <a:prstGeom prst="rect">
              <a:avLst/>
            </a:prstGeom>
            <a:noFill/>
          </p:spPr>
          <p:txBody>
            <a:bodyPr wrap="square" lIns="9144" tIns="9144" rIns="9144" bIns="9144">
              <a:spAutoFit/>
            </a:bodyPr>
            <a:lstStyle/>
            <a:p>
              <a:pPr>
                <a:defRPr sz="1400" b="1">
                  <a:solidFill>
                    <a:srgbClr val="0C3569"/>
                  </a:solidFill>
                  <a:latin typeface="Aptos"/>
                </a:defRPr>
              </a:pPr>
              <a:r>
                <a:rPr sz="1600"/>
                <a:t>Improve business performance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1B139D-063D-693C-8E2D-DEBD133204DD}"/>
                </a:ext>
              </a:extLst>
            </p:cNvPr>
            <p:cNvSpPr txBox="1"/>
            <p:nvPr/>
          </p:nvSpPr>
          <p:spPr>
            <a:xfrm>
              <a:off x="2676671" y="4209000"/>
              <a:ext cx="7350386" cy="264688"/>
            </a:xfrm>
            <a:prstGeom prst="rect">
              <a:avLst/>
            </a:prstGeom>
            <a:noFill/>
          </p:spPr>
          <p:txBody>
            <a:bodyPr wrap="square" lIns="9144" tIns="9144" rIns="9144" bIns="9144">
              <a:spAutoFit/>
            </a:bodyPr>
            <a:lstStyle/>
            <a:p>
              <a:pPr>
                <a:defRPr sz="1150" b="0">
                  <a:solidFill>
                    <a:srgbClr val="4B5B6C"/>
                  </a:solidFill>
                  <a:latin typeface="Aptos"/>
                </a:defRPr>
              </a:pPr>
              <a:r>
                <a:rPr sz="1600"/>
                <a:t>Find opportunities to increase engagement, repeat purchases, and sales.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1130B3C-48D3-C6F3-225B-C8E226981058}"/>
              </a:ext>
            </a:extLst>
          </p:cNvPr>
          <p:cNvSpPr txBox="1"/>
          <p:nvPr/>
        </p:nvSpPr>
        <p:spPr>
          <a:xfrm>
            <a:off x="2208362" y="1500996"/>
            <a:ext cx="8712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retail company wants to understand customer shopping behavior to improve sales, customer engagement, customer loyalty, and marketing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77021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639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t72793</dc:creator>
  <cp:lastModifiedBy>t72793</cp:lastModifiedBy>
  <cp:revision>19</cp:revision>
  <dcterms:created xsi:type="dcterms:W3CDTF">2026-10-26T07:36:27Z</dcterms:created>
  <dcterms:modified xsi:type="dcterms:W3CDTF">2026-10-29T02:31:33Z</dcterms:modified>
</cp:coreProperties>
</file>